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9c15c2aa04f63" /><Relationship Type="http://schemas.openxmlformats.org/officeDocument/2006/relationships/extended-properties" Target="/docProps/app.xml" Id="R739473ea1a5a43fa" /><Relationship Type="http://schemas.openxmlformats.org/officeDocument/2006/relationships/officeDocument" Target="/ppt/presentation.xml" Id="Ra5ce46a52b79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14e39b846479b"/>
  </p:sldMasterIdLst>
  <p:notesMasterIdLst>
    <p:notesMasterId xmlns:r="http://schemas.openxmlformats.org/officeDocument/2006/relationships" r:id="Rb83d97e0aa8343e5"/>
  </p:notesMasterIdLst>
  <p:sldIdLst>
    <p:sldId xmlns:r="http://schemas.openxmlformats.org/officeDocument/2006/relationships" id="256" r:id="Rc6ab4d9f1e1a4c70"/>
    <p:sldId xmlns:r="http://schemas.openxmlformats.org/officeDocument/2006/relationships" id="257" r:id="R97c0f69feb544455"/>
    <p:sldId xmlns:r="http://schemas.openxmlformats.org/officeDocument/2006/relationships" id="258" r:id="R3fd56a9227384ff9"/>
    <p:sldId xmlns:r="http://schemas.openxmlformats.org/officeDocument/2006/relationships" id="259" r:id="R39fefdaf6ed744e5"/>
    <p:sldId xmlns:r="http://schemas.openxmlformats.org/officeDocument/2006/relationships" id="260" r:id="R524009af64f04b71"/>
    <p:sldId xmlns:r="http://schemas.openxmlformats.org/officeDocument/2006/relationships" id="261" r:id="R001bf6766d5b4d22"/>
    <p:sldId xmlns:r="http://schemas.openxmlformats.org/officeDocument/2006/relationships" id="262" r:id="R6148929fd79b451e"/>
    <p:sldId xmlns:r="http://schemas.openxmlformats.org/officeDocument/2006/relationships" id="263" r:id="Rbdd8e57a2c704709"/>
    <p:sldId xmlns:r="http://schemas.openxmlformats.org/officeDocument/2006/relationships" id="264" r:id="Rc936a0dedf554190"/>
    <p:sldId xmlns:r="http://schemas.openxmlformats.org/officeDocument/2006/relationships" id="265" r:id="Re109be0265db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6d3c224a484785" /><Relationship Type="http://schemas.openxmlformats.org/officeDocument/2006/relationships/slideMaster" Target="/ppt/slideMasters/slideMaster1.xml" Id="R32714e39b846479b" /><Relationship Type="http://schemas.openxmlformats.org/officeDocument/2006/relationships/notesMaster" Target="/ppt/notesMasters/notesMaster1.xml" Id="Rb83d97e0aa8343e5" /><Relationship Type="http://schemas.openxmlformats.org/officeDocument/2006/relationships/presProps" Target="/ppt/presProps.xml" Id="Rfad8716b9b25434b" /><Relationship Type="http://schemas.openxmlformats.org/officeDocument/2006/relationships/tableStyles" Target="/ppt/tableStyles.xml" Id="R6dcf87cc9a39401f" /><Relationship Type="http://schemas.openxmlformats.org/officeDocument/2006/relationships/slide" Target="/ppt/slides/slide1.xml" Id="Rc6ab4d9f1e1a4c70" /><Relationship Type="http://schemas.openxmlformats.org/officeDocument/2006/relationships/slide" Target="/ppt/slides/slide2.xml" Id="R97c0f69feb544455" /><Relationship Type="http://schemas.openxmlformats.org/officeDocument/2006/relationships/slide" Target="/ppt/slides/slide3.xml" Id="R3fd56a9227384ff9" /><Relationship Type="http://schemas.openxmlformats.org/officeDocument/2006/relationships/slide" Target="/ppt/slides/slide4.xml" Id="R39fefdaf6ed744e5" /><Relationship Type="http://schemas.openxmlformats.org/officeDocument/2006/relationships/slide" Target="/ppt/slides/slide5.xml" Id="R524009af64f04b71" /><Relationship Type="http://schemas.openxmlformats.org/officeDocument/2006/relationships/slide" Target="/ppt/slides/slide6.xml" Id="R001bf6766d5b4d22" /><Relationship Type="http://schemas.openxmlformats.org/officeDocument/2006/relationships/slide" Target="/ppt/slides/slide7.xml" Id="R6148929fd79b451e" /><Relationship Type="http://schemas.openxmlformats.org/officeDocument/2006/relationships/slide" Target="/ppt/slides/slide8.xml" Id="Rbdd8e57a2c704709" /><Relationship Type="http://schemas.openxmlformats.org/officeDocument/2006/relationships/slide" Target="/ppt/slides/slide9.xml" Id="Rc936a0dedf554190" /><Relationship Type="http://schemas.openxmlformats.org/officeDocument/2006/relationships/slide" Target="/ppt/slides/slide10.xml" Id="Re109be0265db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a9e23086bf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ORCAP 2026">
  <a:themeElements>
    <a:clrScheme name="WORCAP 202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CA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9815c32dd4f4f" /><Relationship Type="http://schemas.openxmlformats.org/officeDocument/2006/relationships/notesMaster" Target="/ppt/notesMasters/notesMaster1.xml" Id="R86987bd0c5ea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9b62ae0ba64d33" /><Relationship Type="http://schemas.openxmlformats.org/officeDocument/2006/relationships/notesMaster" Target="/ppt/notesMasters/notesMaster1.xml" Id="Rdbd90a88affc42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ab84cc3f94a12" /><Relationship Type="http://schemas.openxmlformats.org/officeDocument/2006/relationships/notesMaster" Target="/ppt/notesMasters/notesMaster1.xml" Id="Red020fec1d934d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78d8f49664763" /><Relationship Type="http://schemas.openxmlformats.org/officeDocument/2006/relationships/notesMaster" Target="/ppt/notesMasters/notesMaster1.xml" Id="Re527781498c1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6364132eb4571" /><Relationship Type="http://schemas.openxmlformats.org/officeDocument/2006/relationships/notesMaster" Target="/ppt/notesMasters/notesMaster1.xml" Id="Rbb0a3b6e90074f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c2df0a3b734c5c" /><Relationship Type="http://schemas.openxmlformats.org/officeDocument/2006/relationships/notesMaster" Target="/ppt/notesMasters/notesMaster1.xml" Id="Red8a0702c79549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824cb371ad4f6b" /><Relationship Type="http://schemas.openxmlformats.org/officeDocument/2006/relationships/notesMaster" Target="/ppt/notesMasters/notesMaster1.xml" Id="R64b1a61aab6a4d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b7e5a6ba7848ce" /><Relationship Type="http://schemas.openxmlformats.org/officeDocument/2006/relationships/notesMaster" Target="/ppt/notesMasters/notesMaster1.xml" Id="R5c06b4d6db9b43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27380890ab4f4b" /><Relationship Type="http://schemas.openxmlformats.org/officeDocument/2006/relationships/notesMaster" Target="/ppt/notesMasters/notesMaster1.xml" Id="R441d1f6947f445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7a69dc6ff84226" /><Relationship Type="http://schemas.openxmlformats.org/officeDocument/2006/relationships/notesMaster" Target="/ppt/notesMasters/notesMaster1.xml" Id="R8a7dc639718344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- metadata/manifest.json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- González et al. (2010). https://doi.org/10.1155/2010/969806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metadata/manifest.json</a:t>
            </a:r>
          </a:p>
          <a:p xmlns:a="http://schemas.openxmlformats.org/drawingml/2006/main">
            <a:r>
              <a:t>- metadata/manifest.json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metadata/manifest.json</a:t>
            </a:r>
          </a:p>
          <a:p xmlns:a="http://schemas.openxmlformats.org/drawingml/2006/main">
            <a:r>
              <a:t>- data/points/points.gpkg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- Ferreira et al. (2020). https://doi.org/10.3390/rs12244033</a:t>
            </a:r>
          </a:p>
          <a:p xmlns:a="http://schemas.openxmlformats.org/drawingml/2006/main">
            <a:r>
              <a:t>- Vinhas et al. (2017). https://doi.org/10.14393/rbcv69n5-44004</a:t>
            </a:r>
          </a:p>
          <a:p xmlns:a="http://schemas.openxmlformats.org/drawingml/2006/main">
            <a:r>
              <a:t>- Muñoz-Sabater et al. (2021). https://doi.org/10.5194/essd-13-4349-2021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González et al. (2010). https://doi.org/10.1155/2010/969806</a:t>
            </a:r>
          </a:p>
          <a:p xmlns:a="http://schemas.openxmlformats.org/drawingml/2006/main">
            <a:r>
              <a:t>- Chang, Wu e Chen (2010). https://doi.org/10.1109/LGRS.2009.2034610</a:t>
            </a:r>
          </a:p>
          <a:p xmlns:a="http://schemas.openxmlformats.org/drawingml/2006/main">
            <a:r>
              <a:t>- Kruse et al. (1993). https://doi.org/10.1016/0034-4257(93)90013-N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Gates et al. (1965). https://doi.org/10.1364/AO.4.000011</a:t>
            </a:r>
          </a:p>
          <a:p xmlns:a="http://schemas.openxmlformats.org/drawingml/2006/main">
            <a:r>
              <a:t>- Jacquemoud e Baret (1990). https://doi.org/10.1016/0034-4257(90)90100-Z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docs/panels/index.html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- docs/panels/index.html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metadata/manifest.json</a:t>
            </a:r>
          </a:p>
          <a:p xmlns:a="http://schemas.openxmlformats.org/drawingml/2006/main">
            <a:r>
              <a:t>- docs/panels/index.html</a:t>
            </a:r>
          </a:p>
          <a:p xmlns:a="http://schemas.openxmlformats.org/drawingml/2006/main">
            <a:r>
              <a:t>- docs/materials/metodologia.md</a:t>
            </a:r>
          </a:p>
          <a:p xmlns:a="http://schemas.openxmlformats.org/drawingml/2006/main">
            <a:r>
              <a:t>- Cleveland et al. (1990), STL — publicação sem DOI atribuído</a:t>
            </a:r>
          </a:p>
          <a:p xmlns:a="http://schemas.openxmlformats.org/drawingml/2006/main">
            <a:r>
              <a:t>- Muñoz-Sabater et al. (2021). https://doi.org/10.5194/essd-13-4349-2021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4f6970bc547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5c23226d54e68" /><Relationship Type="http://schemas.openxmlformats.org/officeDocument/2006/relationships/slideLayout" Target="/ppt/slideLayouts/slideLayout1.xml" Id="Ra857e8888473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7e8888473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ORCAP 2026">
  <a:themeElements>
    <a:clrScheme name="WORCAP 202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CA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acd8f63b74882" /><Relationship Type="http://schemas.openxmlformats.org/officeDocument/2006/relationships/notesSlide" Target="/ppt/notesSlides/notesSlide1.xml" Id="R9947b65cad3c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921cdddd84817" /><Relationship Type="http://schemas.openxmlformats.org/officeDocument/2006/relationships/notesSlide" Target="/ppt/notesSlides/notesSlide2.xml" Id="R407061923a0c45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2b38fa2b401a" /><Relationship Type="http://schemas.openxmlformats.org/officeDocument/2006/relationships/notesSlide" Target="/ppt/notesSlides/notesSlide3.xml" Id="R092002fd785341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3265571f04adc" /><Relationship Type="http://schemas.openxmlformats.org/officeDocument/2006/relationships/notesSlide" Target="/ppt/notesSlides/notesSlide4.xml" Id="Re3cf59b1828f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a4c4a24914506" /><Relationship Type="http://schemas.openxmlformats.org/officeDocument/2006/relationships/notesSlide" Target="/ppt/notesSlides/notesSlide5.xml" Id="R731d4083c36c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d8d69e6bf4ff8" /><Relationship Type="http://schemas.openxmlformats.org/officeDocument/2006/relationships/notesSlide" Target="/ppt/notesSlides/notesSlide6.xml" Id="R2bfea4e7c779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8c65b702c4f21" /><Relationship Type="http://schemas.openxmlformats.org/officeDocument/2006/relationships/chart" Target="/ppt/slides/charts/chart1.xml" Id="Rcb7930d6cc9a4b27" /><Relationship Type="http://schemas.openxmlformats.org/officeDocument/2006/relationships/notesSlide" Target="/ppt/notesSlides/notesSlide7.xml" Id="R0d4b68cdb43f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0d92aa3274bdd" /><Relationship Type="http://schemas.openxmlformats.org/officeDocument/2006/relationships/notesSlide" Target="/ppt/notesSlides/notesSlide8.xml" Id="R603ba0ecd7044e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85cae8bdb4d78" /><Relationship Type="http://schemas.openxmlformats.org/officeDocument/2006/relationships/notesSlide" Target="/ppt/notesSlides/notesSlide9.xml" Id="R1bdab5a561d6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dc2e1ce9540d2" /><Relationship Type="http://schemas.openxmlformats.org/officeDocument/2006/relationships/notesSlide" Target="/ppt/notesSlides/notesSlide10.xml" Id="Re443aed3f8cf4f9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Vegetação ativa — esquema</c:v>
          </c:tx>
          <c:spPr>
            <a:ln xmlns:a="http://schemas.openxmlformats.org/drawingml/2006/main" w="38100">
              <a:solidFill>
                <a:srgbClr val="1E7A4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E7A4D"/>
              </a:solidFill>
            </c:spPr>
          </c:marker>
          <c:cat>
            <c:strLit>
              <c:ptCount val="10"/>
              <c:pt idx="0">
                <c:v>B02</c:v>
              </c:pt>
              <c:pt idx="1">
                <c:v>B03</c:v>
              </c:pt>
              <c:pt idx="2">
                <c:v>B04</c:v>
              </c:pt>
              <c:pt idx="3">
                <c:v>B05</c:v>
              </c:pt>
              <c:pt idx="4">
                <c:v>B06</c:v>
              </c:pt>
              <c:pt idx="5">
                <c:v>B07</c:v>
              </c:pt>
              <c:pt idx="6">
                <c:v>B08</c:v>
              </c:pt>
              <c:pt idx="7">
                <c:v>B8A</c:v>
              </c:pt>
              <c:pt idx="8">
                <c:v>B11</c:v>
              </c:pt>
              <c:pt idx="9">
                <c:v>B12</c:v>
              </c:pt>
            </c:strLit>
          </c:cat>
          <c:val>
            <c:numLit>
              <c:formatCode>General</c:formatCode>
              <c:ptCount val="10"/>
              <c:pt idx="0">
                <c:v>5</c:v>
              </c:pt>
              <c:pt idx="1">
                <c:v>8</c:v>
              </c:pt>
              <c:pt idx="2">
                <c:v>4</c:v>
              </c:pt>
              <c:pt idx="3">
                <c:v>14</c:v>
              </c:pt>
              <c:pt idx="4">
                <c:v>34</c:v>
              </c:pt>
              <c:pt idx="5">
                <c:v>44</c:v>
              </c:pt>
              <c:pt idx="6">
                <c:v>43</c:v>
              </c:pt>
              <c:pt idx="7">
                <c:v>50</c:v>
              </c:pt>
              <c:pt idx="8">
                <c:v>24</c:v>
              </c:pt>
              <c:pt idx="9">
                <c:v>14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9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376F9-1322-4049-A494-D3893F3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B2AAC-5089-4E68-9699-5525260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WORCAP 2026 • REUNIÃO DA EQUIPE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89A17-9D97-49C9-9087-CC2881D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76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Validação de candidatos PPI</a:t>
            </a:r>
          </a:p>
          <a:p xmlns:a="http://schemas.openxmlformats.org/drawingml/2006/main">
            <a:pPr algn="l">
              <a:defRPr sz="435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de vegetação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03C68-8F31-45A2-9017-07C9717D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F89C2-879B-485E-AB7B-AFCE6C22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838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24734"/>
                </a:solidFill>
                <a:latin typeface="Aptos"/>
                <a:ea typeface="Aptos"/>
                <a:cs typeface="Aptos"/>
              </a:rPr>
              <a:t>TerraClass Amazônia · Sentinel-2 16 dias · 2017–2024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69461-EC26-4F85-9B45-673FC5F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Guia para leitura do painel e padronização das 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98F52-566F-4956-9F48-FE84C26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43625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Protocolo v1.0</a:t>
            </a:r>
          </a:p>
        </p:txBody>
      </p:sp>
    </p:spTree>
    <p:extLst>
      <p:ext uri="{BB962C8B-B14F-4D97-AF65-F5344CB8AC3E}">
        <p14:creationId xmlns:p14="http://schemas.microsoft.com/office/powerpoint/2010/main" val="6266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35069-0C74-4BD4-94FB-4EF5DFF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D4FA7-E7B4-429C-A26F-556B7483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A equipe atribui significado; o PPI apenas encontra extremos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5A8B-D2B5-4997-87E1-1367E09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79D4A-526D-41D3-B27B-A249D08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05846-14F0-4CC4-B431-1E986757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334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4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4EB82-A626-43FC-AFBD-C221F5D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O que validar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8ACA2-AEEC-415C-8A44-5063202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6B6F3-1E2E-4B14-A00C-1D79860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Marcar todos os candidatos compatíveis com vegetação fotossinteticamente 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26645-12E3-49A6-9B50-9600BC4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799DE-6021-488C-A777-F74A951A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Considerar a forma completa do espectro — visível, red edge, NIR e SWIR.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8CE92-74AC-4C52-8F56-79690622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E746C-4881-4F83-9159-36AD099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Aceitar um, vários, todos ou nenhum candidato na mesma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ABD1E-C0B9-4E0C-A03F-CFD7F2F3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5715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5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61DA5-60DE-4455-89AD-6B8945FF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O que não fazer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FD843-A02A-4568-95F1-C92518E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83ED5-286D-49A3-8670-0DE3E1F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45624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Não escolher obrigatoriamente um único ‘melhor’ endmember.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B7277-93CF-40F5-A7BF-BB59620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B883F-1BBC-4E2B-AD2C-ED3E1DF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5624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Não usar somente o pico em B08/B8A como critério.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44780-9652-4913-9F22-EA37A93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940A1-E0BF-45FA-AC10-7C5D5369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05300"/>
            <a:ext cx="45624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Não interpretar EM01–EM04 como indivíduos persistentes no tempo.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5CF27-BF2D-4C12-8224-CB6F4042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A validação é semântica: vegetação ativa ou não.</a:t>
            </a:r>
          </a:p>
        </p:txBody>
      </p:sp>
    </p:spTree>
    <p:extLst>
      <p:ext uri="{BB962C8B-B14F-4D97-AF65-F5344CB8AC3E}">
        <p14:creationId xmlns:p14="http://schemas.microsoft.com/office/powerpoint/2010/main" val="1783020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FD90C-B258-4909-A80A-1F7D7AD1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2DFB-67A3-4BB2-A1B9-9977959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O conjunto final é amplo, mas a decisão por tela é simples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07E92-C087-4C8B-BDF2-5A19C752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483BE-8488-45AA-BD43-9067AEC4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40E42-BEF6-43A1-9B20-7451CE65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Cada painel apresenta uma classe e avança data a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B0BE-9DFA-4BA2-8B93-88F2C78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4861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F9E18-E4AF-4B08-A9AA-33B6E4DD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9C7D2-2D7F-4B5F-87D0-EC2017B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classes vegetadas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8B2FF-CD3C-452C-9592-3DD7B55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66950"/>
            <a:ext cx="34861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287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039FA-9F07-4F9C-B7DB-1F04EA2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622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BC60F-25D4-493D-B114-451D509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00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pontos por classe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B660E-E05F-42C7-96E2-A121D323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861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002C-C4D6-4AB3-8FF9-EBE55D2E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622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CC52B-C383-46EA-868A-592B37E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compostos de 16 dias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3155C-C540-4900-909A-A3D61997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10 bandas Sentinel-2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FBD12-B923-4226-BB17-1B02BA96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até 4 candidatos por classe ×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492AF-B0D8-4D18-916C-3E5E8BC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3.671 candidatos para revisão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50D69-76FA-401F-BCF1-367FD009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Classes: floresta primária, floresta secundária, silvicultura, pastagem arbustiva/arbórea e pastagem herbácea.</a:t>
            </a:r>
          </a:p>
        </p:txBody>
      </p:sp>
    </p:spTree>
    <p:extLst>
      <p:ext uri="{BB962C8B-B14F-4D97-AF65-F5344CB8AC3E}">
        <p14:creationId xmlns:p14="http://schemas.microsoft.com/office/powerpoint/2010/main" val="211484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0C1D7-A96A-46AB-A210-A7F436B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AA690-C500-49D3-AC8E-7C3F2F2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52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A amostra representa cada classe sem transformar tiles em tratamentos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726FE-DEB4-47BA-9B7E-F546241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97FF9-4FFF-47E4-98CF-12D124A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BB7B2-2467-4E15-A769-351EAFD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3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Malha sistemática com origem pseudoaleatória (seed 13), aplicada ao núcleo permanente 3×3 em EPSG:5880.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BED5F-37F8-4494-A595-2505C09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7334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68557-0F90-4D92-B62F-11C99AF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CLASSE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DEE69-618E-4734-B5D1-E7CD7AE4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ESTRATO TERRACLASS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C1ECC-99DF-4279-971C-4C3DDBC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DISTÂNCIA MÍNIMA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92190-1C91-4DC5-A0D2-DA50919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02B84-0188-4FFB-891D-B66E8356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B5B88-A167-4319-81C5-DD189F1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Floresta primária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7A310-5EB2-4E41-8AE8-54DDA13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55,1 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6845-7C03-44D9-A326-B8DAB287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0CC83-D42C-42DC-AF8B-549BE2A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48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Floresta secundária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90AC5-DBC6-4CC0-9BF7-D1321FD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48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9,4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88157-B547-4056-A9FD-6F88072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2A60A-E43D-4C96-9E21-DEEF02B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3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Silvicultura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EF1AC-ACB1-4A8E-AB7E-98302B03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43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1,9 km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7BDF5-17DD-4788-8111-9F72E968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60C90-506F-4613-BCAB-8470C1F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Pastagem arb./arbórea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C4424-1BD9-4714-A619-7443DA0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38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1,9 km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DEB05-6FDB-4DB8-BCFF-2B829834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1B594-13BF-483C-BE06-A279552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Pastagem herbácea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F895C-A268-4C81-BD4A-78C05F6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33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15,6 km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73F58-8C3D-46BD-9103-4C21FE2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24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Os tiles do BDC são apenas infraestrutura para acessar os dados.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5E6F3-BFD9-404A-9A7F-CDAFCB4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312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A unidade científica permanece: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8A06BF-66BC-40BF-9146-8C460DC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classe ×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D1BB0-8320-4C63-9B1A-016ACF97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Os 1.000 pontos são um limite operacional comum às classes, não um tamanho amostral inferencial.</a:t>
            </a:r>
          </a:p>
        </p:txBody>
      </p:sp>
    </p:spTree>
    <p:extLst>
      <p:ext uri="{BB962C8B-B14F-4D97-AF65-F5344CB8AC3E}">
        <p14:creationId xmlns:p14="http://schemas.microsoft.com/office/powerpoint/2010/main" val="1111087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95AB63-B09C-4E47-A540-3138F2A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0EA72-11D6-4BC5-B394-6EBF8C57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O fluxo separa extração automática de interpretação humana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EE204-F458-4202-A703-27C8490D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98C7B-0D36-45DA-B5B1-4D0F80B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BDA6D-6227-48FC-A918-A92788C6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5750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9CEE3-2B56-4C2E-8DA7-1D24C38A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9DEDE-D8E5-4874-85FE-CFE85B55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00DA1-8ED0-41CA-86CE-31E54C45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Permanência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C290B-1DFE-4518-9FF3-869ED94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TerraClass 2016–2024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+núcleo 3×3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AA7A3-70CA-404E-86C4-23B702B1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5750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778C8-3CB9-4C05-ADB6-00C16D9B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1B257-DFAE-4F88-B803-1735CFF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E6BA1-7DB5-4B9C-A9F4-C39FB7D4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Amostra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FC76D-94EC-4A78-91EB-89C7058B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1.000 pontos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por classe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478BD-68BC-41C8-AA80-5B0D618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B6549-9EE1-4AFA-ADFE-5280D3BB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67A2E-3C9C-4DFF-B0A8-FE7B51E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7798E-964E-4117-AB6C-C8771E3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WTSS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53B1E-B273-4A72-B350-132022E1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184 compostos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10 bandas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4026-ABA6-473F-B685-36B9A951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9B5FB-98A6-4301-BE35-4F87E36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BC512-DEC1-4755-83C0-1BA8AD7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3102D-3A64-4295-8E23-FBC3CE3E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PPI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3F0ED-DD35-4033-AE34-D58E8AAC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10.000 projeções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até 4 candidatos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C4F77-9919-4E6A-8E84-3F9AFE7E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42B70-AB65-4DB2-87FC-B491959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3FC6E-0105-4373-B63C-BE6A9B1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BDF90-C1A7-4BEC-81CB-B41D12A7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Equipe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CDEFA5-3F49-4C71-9AD9-1B3731D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marcar vegetação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ativa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FA5540-0C74-4CE7-B466-8426430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19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8C812-D317-496D-BBA4-93B5FAF5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81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9303C-B715-47F2-AFA8-1579BCC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289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Séries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4AFFA-AA94-4060-8C14-0A882201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43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10 bandas + STL</a:t>
            </a:r>
          </a:p>
          <a:p xmlns:a="http://schemas.openxmlformats.org/drawingml/2006/main">
            <a:pPr algn="l">
              <a:defRPr sz="135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clima e defasagens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EF28B-214F-484C-8BD2-9D508C4D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870D8-4C8B-44E1-8FBC-9DD46C8A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725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A equipe intervém apenas na etapa 5. Todo o restante já está congelado e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1243024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0514A-9B77-4F8F-820D-FACD1A63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36199-6DD3-4648-AE22-E1B812C8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O PPI encontra extremos; a equipe atribui significado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B145D-C127-4938-9FD2-93E80E99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C6A3-BF80-4741-B25D-D7DE2A2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A3CD9-6E3A-4893-85D1-7569EA9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15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Para cada classe × data, os espectros válidos são centralizados e projetados em 10.000 direções aleatórias.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754D-F68A-4E22-92AB-A0A2DF0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5219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EA1AE-089D-441E-9F7C-5494A0E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algoritmo entrega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EC193-DA43-4E51-A8FA-B18ACE0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5DD35-2D30-4B9A-9439-5E4ED85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229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pixels que repetidamente ocupam máximos ou mínimos nas projeções;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F32F0-6F22-42DE-8316-05D3E00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AE90-2559-407E-BFD9-9117343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229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escore PPI para ordenar os extremos;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795E1-C321-412C-B16F-E4D7714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49D1D-9BC3-41A1-9C50-1C754AA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229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até quatro espectros separados por SAM ≥ 2°.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8CAE6-7429-4A8A-8848-6296EB4D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57721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32590-324F-423F-8B36-A081ECB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6463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64636"/>
                </a:solidFill>
                <a:latin typeface="Aptos"/>
                <a:ea typeface="Aptos"/>
                <a:cs typeface="Aptos"/>
              </a:rPr>
              <a:t>O algoritmo não entrega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462C-4258-40FE-A0DB-BC679B4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4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E5EB0-A385-4E74-BAE2-24A62EE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rótulo biofísico ou temático;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E9DDA-5E6C-4846-AC8C-E87FCA0C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4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9CA06-A8AA-4B53-88AA-099AC977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prova de pureza absoluta ou abundância;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ED712-C11B-4541-9A33-1AA83FC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4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1B258-EBBB-45C1-B8DD-9123EF0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1485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garantia de que o candidato seja vegetação.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CAA3A-E281-4A5D-A9EF-66FA57B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Por isso, a revisão humana é parte explícita do método.</a:t>
            </a:r>
          </a:p>
        </p:txBody>
      </p:sp>
    </p:spTree>
    <p:extLst>
      <p:ext uri="{BB962C8B-B14F-4D97-AF65-F5344CB8AC3E}">
        <p14:creationId xmlns:p14="http://schemas.microsoft.com/office/powerpoint/2010/main" val="355476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27E8A-B314-4F68-97C6-D9AD441E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0BF06-13EC-43F0-9D4B-33721F5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Vegetação ativa exige coerência em toda a assinatura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B676B-63B4-4B77-9C7D-0694814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B93F-B5C1-4311-B6D1-D3A1181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DD7DC-A87B-494D-B1E8-DDE94751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Assinatura esquemática para leitura — não representa uma observação do estudo.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69532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7930d6cc9a4b2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E5F6B-B157-4BC7-BDDA-A460688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Reflectância relativa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0A333-6A9B-46E7-8295-CC110D94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Sinais esperados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E518C-1AAC-41E8-ABBB-8E8064C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D92C3-096A-484C-8FE9-FECF53E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3181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absorção no visível, sobretudo no vermelho;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84689-E6D0-4422-8059-BDD5D3DC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04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1400F-5EC8-4021-9D46-245DA86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3181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elevação progressiva no red edge;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93CB5-C6D6-44B0-8BE7-446DD53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D1C6F-70DF-4B27-A877-B7066A1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3181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NIR alto em relação ao vermelho;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73598-8442-41CD-9326-57C69F3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38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8D483-037C-42C2-806B-D63615EC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81525"/>
            <a:ext cx="3181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SWIR coerente com água foliar e mistura.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9C7B7-F16E-42EF-8B86-4F1C6E6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81625"/>
            <a:ext cx="387667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5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627B8-D281-4B38-BA88-E46AD69F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43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41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83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B"/>
                </a:solidFill>
                <a:latin typeface="Aptos"/>
                <a:ea typeface="Aptos"/>
                <a:cs typeface="Aptos"/>
              </a:rPr>
              <a:t>Nenhuma banda isolada decide o rótulo.</a:t>
            </a:r>
          </a:p>
        </p:txBody>
      </p:sp>
    </p:spTree>
    <p:extLst>
      <p:ext uri="{BB962C8B-B14F-4D97-AF65-F5344CB8AC3E}">
        <p14:creationId xmlns:p14="http://schemas.microsoft.com/office/powerpoint/2010/main" val="880834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3D8BE-11BB-4D4E-9129-BC8AC92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3D0F3-171E-4A40-997E-7ECBFFF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O painel reúne contexto temporal e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56CF-2BAD-4EA0-8E48-28D164E2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AB41-545E-4782-9916-550A3C2A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FC62C-BED7-4CD5-A10F-D7DB932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A tela foi organizada para reduzir deslocamentos durante a revisão de 184 datas.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A5D3E-EE07-49C6-A265-C2F50A36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4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5BE45-7BD9-434D-9777-0F710756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50DD4-34E8-4AA7-9B4A-DABA6081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A4023-2B57-4EB4-AB93-A5AAC23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Contexto temporal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1D86C-6F37-4D5E-8EF1-9D02D17A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EVI, BSI e variabilidade espacial localizam a data atual na série.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1343E-C1F4-4041-B215-A41920F3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281D0-D8CF-449B-9856-3DBF65A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87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712D2-A4E4-49AE-BA6C-8BEBDA1C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9C081-3A2C-454D-AA91-DC43DAEF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Comparação espectral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B8400-4F0B-4C5A-A189-6C710331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Gráfico conjunto, quatro candidatos individuais e curvas de contexto dos pixels válidos.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CFA4-25AD-49CF-AE5F-986873D6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2296D-838C-4BC2-90C4-8C6A5E4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05E68-F9BC-4D25-8CC4-C2CC9CE3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B02BF-70CA-400B-8D45-594B04C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Decisão e exportação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97302-519D-49AD-8DBC-767AECB1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Seleção múltipla, navegação e exportação do CSV permanecem no rodapé fixo.</a:t>
            </a:r>
          </a:p>
        </p:txBody>
      </p:sp>
    </p:spTree>
    <p:extLst>
      <p:ext uri="{BB962C8B-B14F-4D97-AF65-F5344CB8AC3E}">
        <p14:creationId xmlns:p14="http://schemas.microsoft.com/office/powerpoint/2010/main" val="1215235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FEB7F-1739-4B48-A67D-370C50E2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6E38-2637-4033-BBE6-5E2F027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67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A decisão deve ser consistente, mas pode incluir vários candidatos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CC415-7676-4334-B73C-9249372F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D82E0-D9A2-4092-BD4C-4A70412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8B476-AAE5-4EA6-88D1-5AD4EDE8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F9D6-2A86-4ACA-936C-F6EDCF31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120AB-CB09-45AE-B467-EF4BF14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145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Leia em reflectância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788F3-84F1-4EC7-9C34-B160EC1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É a visualização principal para a decisão.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601E8-F849-41BC-90A4-6399EEEC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1C2A-5E0C-4018-973E-C79968F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F65BD-CAA2-4D5E-990F-0E567F3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Compare todos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6B7AF-DD0F-45AB-9C3E-E8C415F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95625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Use o gráfico conjunto e depois os individuais.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25E63-7C40-48EB-A78D-B29B5C2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037C0-3F85-49BF-B0BA-DD3398F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8DA45-60AB-466E-B445-850E315B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Marque o conjunto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DA0EC-C9DD-44E2-9170-77DFC95A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Selecione 1, 2, 3, 4, Todos ou Nenhum.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B993B-14D0-4585-AEEF-293AEBC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4FB3-CB76-4080-8B3F-06A7CACD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FA5EB-BF2E-465E-9FA8-067A886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1487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Avance a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ED587-4523-4C83-AEA8-96C0DAC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EVI, BSI e forma normalizada são apenas contexto.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9FCB6-77A1-4D2F-A439-63F1E421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81175"/>
            <a:ext cx="3295650" cy="33909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E4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8E142-DDD9-439B-909F-965303A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85975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Regra de ouro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BA7A5-B638-4F4C-BBCE-BCA74F05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2609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96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Marque todos os espectros com comportamento coerente de vegetação fotossinteticamente ativa — mesmo quando diferirem em magnitude.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E0DF6-B743-4A7A-BD59-D68C1C1E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EM01–EM04 são posições relativas dentro de cada data.</a:t>
            </a:r>
          </a:p>
        </p:txBody>
      </p:sp>
    </p:spTree>
    <p:extLst>
      <p:ext uri="{BB962C8B-B14F-4D97-AF65-F5344CB8AC3E}">
        <p14:creationId xmlns:p14="http://schemas.microsoft.com/office/powerpoint/2010/main" val="1149076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6F0F1F-2753-4CDF-8FB0-43CE7CAF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7A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7A4D"/>
                </a:solidFill>
                <a:latin typeface="Aptos"/>
                <a:ea typeface="Aptos"/>
                <a:cs typeface="Aptos"/>
              </a:rPr>
              <a:t>VALIDAÇÃO DE ENDMEMBERS • WORCAP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12986-7F04-480B-9A02-A950F6D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Os cinco painéis estão prontos para distribuição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2586-9620-4992-8460-FC25382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A0D59-8C90-448B-977C-655DE59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70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6CB7-57E0-4103-8691-62091FC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Cobertura final do processamento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7E686-4576-4A77-AA61-A309954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9E8B3-7EBC-4D21-A3C8-5BAE9EF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184/184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0BA0-9595-4B42-BAF5-21E9ACB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736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969C0-3126-42FD-8C96-F8DA771F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C2968-B3C9-41F7-8F0B-30E7EDA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E23E0-A1B0-41DD-A4DE-EB2B990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184/184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89CE9-EE2D-44A8-ACE5-B553AE6B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527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735 candidatos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DCA4C-C456-4ED4-9168-E505032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DC1FE-FD40-4339-B461-2578A799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85D8B-20F7-4033-AB69-236026F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183/184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D74A0-A3A6-48CC-85A0-13AA725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732 candidatos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E7D5D-7482-4519-84FF-D6BC98F7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C4326-1741-4260-B017-ACB9B6A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ED71A-323A-455C-A1C2-77A1828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90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183/184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B239B-C5CB-493C-B776-1027F03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290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732 candidatos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21BDD-F684-456E-AA31-65C6399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5F125-BBD0-4AE8-82AA-F8344CE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B8EAD-3D15-4768-9BB3-D18EABA1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61F"/>
                </a:solidFill>
                <a:latin typeface="Aptos"/>
                <a:ea typeface="Aptos"/>
                <a:cs typeface="Aptos"/>
              </a:rPr>
              <a:t>184/184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0FBF9-047A-4434-B2A1-C0EB9BF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672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069"/>
                </a:solidFill>
                <a:latin typeface="Aptos"/>
                <a:ea typeface="Aptos"/>
                <a:cs typeface="Aptos"/>
              </a:rPr>
              <a:t>736 candidatos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6150F-E714-4889-AAAC-D09F34A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D52AD-1B04-4288-9C7B-A2F6A868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81150"/>
            <a:ext cx="59245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247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B874B-7921-49EE-B346-D18D3EEB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27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da equipe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423F2-6766-4F08-A3CD-0C9715E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42AB2-5E49-4777-A521-A364AD86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89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painel por avaliador ou subequipe;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843EF-5FAC-489C-A128-943E0244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03801-E214-42B0-A5D0-78FADAE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489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revisar todas as datas disponíveis;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A1B74-4762-420A-8FCB-2993D18A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6BF95-8722-4189-96CD-7829AB4C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489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exportar o CSV ao concluir a classe;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60067C-ED59-4B87-B639-DEE8A64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6C8D3A-DFD6-4F65-958A-26FFC71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489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devolver o arquivo sem alterar os identificadores.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FB417-1E2F-4FBB-836A-F43E34E9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473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4734"/>
                </a:solidFill>
                <a:latin typeface="Aptos"/>
                <a:ea typeface="Aptos"/>
                <a:cs typeface="Aptos"/>
              </a:rPr>
              <a:t>Depois da revisão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4AB467-BAE6-43E8-A4EE-DA5FA55C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38800"/>
            <a:ext cx="864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6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61F"/>
                </a:solidFill>
                <a:latin typeface="Aptos"/>
                <a:ea typeface="Aptos"/>
                <a:cs typeface="Aptos"/>
              </a:rPr>
              <a:t>Entre os candidatos validados, o maior escore PPI representará a data; as dez bandas alimentarão a decomposição STL e a análise climática exploratória.</a:t>
            </a:r>
          </a:p>
        </p:txBody>
      </p:sp>
    </p:spTree>
    <p:extLst>
      <p:ext uri="{BB962C8B-B14F-4D97-AF65-F5344CB8AC3E}">
        <p14:creationId xmlns:p14="http://schemas.microsoft.com/office/powerpoint/2010/main" val="593835358"/>
      </p:ext>
    </p:extLst>
  </p:cSld>
</p:sld>
</file>

<file path=ppt/theme/theme1.xml><?xml version="1.0" encoding="utf-8"?>
<a:theme xmlns:a="http://schemas.openxmlformats.org/drawingml/2006/main" name="WORCAP 2026">
  <a:themeElements>
    <a:clrScheme name="WORCAP 202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CAP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2026-08-11T23:11:23.1500000Z</dcterms:created>
  <dcterms:modified xsi:type="dcterms:W3CDTF">2026-08-11T23:11:23.1510000Z</dcterms:modified>
</coreProperties>
</file>